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D2FF"/>
                </a:solidFill>
                <a:latin typeface="Microsoft YaHei"/>
              </a:defRPr>
            </a:pPr>
            <a:r>
              <a:t>IntegriRef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一个帮你检查「参考文献到底靠不靠谱」的工具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1000"/>
              </a:spcBef>
              <a:defRPr sz="1800" b="0">
                <a:solidFill>
                  <a:srgbClr val="BBBBBB"/>
                </a:solidFill>
                <a:latin typeface="Microsoft YaHei"/>
              </a:defRPr>
            </a:pPr>
            <a:r>
              <a:t>  你引用的论文真的存在吗？DOI 是不是编的？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BBBBBB"/>
                </a:solidFill>
                <a:latin typeface="Microsoft YaHei"/>
              </a:defRPr>
            </a:pPr>
            <a:r>
              <a:t>  引用说「支持」，原文其实说的是「反对」？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BBBBBB"/>
                </a:solidFill>
                <a:latin typeface="Microsoft YaHei"/>
              </a:defRPr>
            </a:pPr>
            <a:r>
              <a:t>  有没有引了已经被撤稿的论文？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BBBBBB"/>
                </a:solidFill>
                <a:latin typeface="Microsoft YaHei"/>
              </a:defRPr>
            </a:pPr>
            <a:r>
              <a:t>  ChatGPT 帮你写的参考文献，有多少是幻觉？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GitHub: GeoffreyWang1117/IntegriRef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我们到底在解决什么问题？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Microsoft YaHei"/>
              </a:defRPr>
            </a:pPr>
            <a:r>
              <a:t>学术引用里的「坑」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  假引用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  LLM 生成的论文里，引用可能是编造的——DOI 格式对、但论文不存在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  张冠李戴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  引用说「A 支持 B」，但原文根本没这么说，甚至说的是反面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  撤稿论文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  你引的论文可能早就因为数据造假被撤了，但你不知道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  引用操纵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  有些期刊/作者会互相刷引用，形成「引用圈」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  数据编造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  统计数据的均值和样本量对不上 (GRIM test)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这个问题有多严重？</a:t>
            </a:r>
          </a:p>
          <a:p>
            <a:pPr algn="l">
              <a:spcBef>
                <a:spcPts val="12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Nature 2023 调查：ChatGPT 生成的引用中</a:t>
            </a:r>
            <a:br/>
            <a:r>
              <a:t>约 30-70% 是完全虚构的</a:t>
            </a:r>
          </a:p>
          <a:p>
            <a:pPr algn="l">
              <a:spcBef>
                <a:spcPts val="12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Retraction Watch 数据库：</a:t>
            </a:r>
            <a:br/>
            <a:r>
              <a:t>累计 4 万+ 篇论文被撤稿</a:t>
            </a:r>
          </a:p>
          <a:p>
            <a:pPr algn="l">
              <a:spcBef>
                <a:spcPts val="12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Cabanac et al. 2021 发现</a:t>
            </a:r>
            <a:br/>
            <a:r>
              <a:t>数百篇论文含有「扭曲短语」</a:t>
            </a:r>
            <a:br/>
            <a:r>
              <a:t>(tortured phrases)，疑似论文工厂产物</a:t>
            </a:r>
          </a:p>
          <a:p>
            <a:pPr algn="l">
              <a:spcBef>
                <a:spcPts val="12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一篇错误引用可能被后续几十篇论文</a:t>
            </a:r>
            <a:br/>
            <a:r>
              <a:t>继续传播，形成「错误引用链」</a:t>
            </a:r>
          </a:p>
          <a:p>
            <a:pPr algn="l">
              <a:spcBef>
                <a:spcPts val="12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人工逐条检查一篇论文的参考文献</a:t>
            </a:r>
            <a:br/>
            <a:r>
              <a:t>→ 平均需要 2-3 小时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我们的方案：5 层验证，从简单到深入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822960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371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这篇论文存在吗？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737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查 62 个数据库，看 DOI/标题能不能查到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比如：DOI 格式对但查不到 → 大概率是编的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822960" cy="77724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377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引用意图对吗？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自动判断：这条引用是「支持」「反对」还是「顺便提一嘴」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37744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560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用 SciBERT 模型分类，F1 = 86%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822960" cy="7772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语义对得上吗？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749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把你的声明和原文摘要做 NLI 对比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38328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DeBERTa-v3 模型，准确率 93.5%（超过人类一致性 89%）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822960" cy="77724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引用网络正常吗？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754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构建引文图谱，检测 7 种异常模式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438912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572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比如：自引过高、互引圈、时间异常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94960"/>
            <a:ext cx="822960" cy="77724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394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综合风险多高？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760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把前面所有信号用贝叶斯公式算出一个风险概率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539496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5577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18 个信号 → 后验概率 → 4 个风险等级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L0 详解：怎么判断一篇引用是不是假的？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Microsoft YaHei"/>
              </a:defRPr>
            </a:pPr>
            <a:r>
              <a:t>思路其实很简单，就像你手动去 Google Scholar 搜一样，只是我们自动化了：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698480" cy="960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Step 1: 解析标识符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从参考文献里提取 DOI、arXiv ID、PMID 等——支持 15 种格式自动识别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31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Microsoft YaHei"/>
              </a:defRPr>
            </a:pPr>
            <a:r>
              <a:t>比如 10.1038/s41586-021-03819-2 → 这是个 Crossref DOI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960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Step 2: 多库查询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拿着 ID 去 62 个数据库同时查：Crossref、OpenAlex、PubMed、DBLP...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429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Microsoft YaHei"/>
              </a:defRPr>
            </a:pPr>
            <a:r>
              <a:t>查到了 → 真的；查不到 → 可疑；格式对但不存在 → Phantom DOI (很可能是假的)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79"/>
            <a:ext cx="10698480" cy="960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3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Step 3: 字段比对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就算查到了，也要比对标题、作者、年份是否匹配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5262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Microsoft YaHei"/>
              </a:defRPr>
            </a:pPr>
            <a:r>
              <a:t>用模糊匹配 (RapidFuzz)，容忍大小写、缩写等差异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59"/>
            <a:ext cx="10698480" cy="960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Step 4: 额外检测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49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查撤稿数据库、扫描扭曲短语 (281 个模式)、GRIM 数值验证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62355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BBF24"/>
                </a:solidFill>
                <a:latin typeface="Microsoft YaHei"/>
              </a:defRPr>
            </a:pPr>
            <a:r>
              <a:t>比如 'breast cancer' 被替换成 'bosom disease' → 论文工厂特征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L2 详解：你的引用真的支持你的说法吗？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Microsoft YaHei"/>
              </a:defRPr>
            </a:pPr>
            <a:r>
              <a:t>这一层做的事情叫 NLI (Natural Language Inference)——判断两句话之间的逻辑关系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698480" cy="34747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举个例子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Microsoft YaHei"/>
              </a:defRPr>
            </a:pPr>
            <a:r>
              <a:t>你论文里写的：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468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"Transformer 在翻译任务上超越了 RNN"  [引用 Vaswani et al. 2017]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Microsoft YaHei"/>
              </a:defRPr>
            </a:pPr>
            <a:r>
              <a:t>原文摘要说的：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"Experiments on WMT 2014 show the model achieves 28.4 BLEU, surpassing the best previously reported RNN-based models."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Microsoft YaHei"/>
              </a:defRPr>
            </a:pPr>
            <a:r>
              <a:t>模型判断：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SUPPORTED (置信度 0.91)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如果原文说的是反面呢？→ 模型会输出 CONTRADICTED</a:t>
            </a:r>
            <a:br/>
            <a:r>
              <a:t>如果原文根本没提这事？→ 模型会输出 NOT_ENOUGH_INFO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77840"/>
            <a:ext cx="5029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模型：DeBERTa-v3 (微软)</a:t>
            </a:r>
            <a:br/>
            <a:r>
              <a:t>在 SciFact 数据集上微调 → 准确率 93.5%</a:t>
            </a:r>
            <a:br/>
            <a:r>
              <a:t>人类标注者之间的一致性只有 89.1%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577840"/>
            <a:ext cx="521208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6692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加速：导出为 ONNX 格式 + INT8 量化</a:t>
            </a:r>
            <a:br/>
            <a:r>
              <a:t>CPU 上也能跑，速度提升 2.2 倍</a:t>
            </a:r>
            <a:br/>
            <a:r>
              <a:t>不需要 GPU 也能用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技术架构：用了哪些技术？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Python 主体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核心逻辑全部 Python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aiohttp 异步并发请求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asyncio.gather 并行查询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RapidFuzz 模糊字符串匹配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37160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NLP 模型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SciBERT — 引文意图分类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DeBERTa-v3 — 语义验证 (NLI)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HuggingFace Transformers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ONNX Runtime 推理加速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数据源 (62 个 API)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学术: Crossref, OpenAlex, PubMed...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专利: USPTO, EPO, WIPO...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法律: EUR-Lex, CourtListener...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金融/政府/标准 等 6 大领域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工程化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熔断器: API 挂了自动隔离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双层缓存: LRU + Redis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批处理: 32 并发 Semaphore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Rust 加速: PyO3 绑定 (可选)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9319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023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评分系统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贝叶斯后验概率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18 个信号 × 似然比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Kill-shot: 致命信号直接判死刑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4 级风险: LOW → CRITICAL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931920"/>
            <a:ext cx="3474720" cy="21945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4023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测试与 Benchmark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480+ 单元测试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58-case Golden Test Set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与 CheckIfExist 正面对比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BBBBBB"/>
                </a:solidFill>
                <a:latin typeface="Microsoft YaHei"/>
              </a:defRPr>
            </a:pPr>
            <a:r>
              <a:t>消融实验 + 级联早停优化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实验结果：到底好不好使？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Microsoft YaHei"/>
              </a:defRPr>
            </a:pPr>
            <a:r>
              <a:t>在 58 个精心设计的测试用例上 (含 14 个假引用、23 篇撤稿、3 个嵌合体、18 篇真论文)：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假引用检出率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Microsoft YaHei"/>
              </a:defRPr>
            </a:pPr>
            <a:r>
              <a:t>14/14 全部抓到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真论文误报率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Microsoft YaHei"/>
              </a:defRPr>
            </a:pPr>
            <a: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Microsoft YaHei"/>
              </a:defRPr>
            </a:pPr>
            <a:r>
              <a:t>18 篇真论文零误报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撤稿检出率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  <a:latin typeface="Microsoft YaHei"/>
              </a:defRPr>
            </a:pPr>
            <a:r>
              <a:t>73.9%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Microsoft YaHei"/>
              </a:defRPr>
            </a:pPr>
            <a:r>
              <a:t>17/23 (受限于数据库覆盖)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737360"/>
            <a:ext cx="25603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嵌合体检测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Microsoft YaHei"/>
              </a:defRPr>
            </a:pPr>
            <a:r>
              <a:t>3/3 元数据拼接的假论文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对比现有工具 CheckIfExist (Abbonato et al. 2025)：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106984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假引用检出 (高置信):  IntegriRef 100%  vs  CheckIfExist 0% — CIE 无法给出高置信判断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撤稿检出:  IntegriRef 73.9%  vs  CheckIfExist 26.1% — CIE 只查存在性，不查撤稿状态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嵌合体检测:  IntegriRef 100%  vs  CheckIfExist 33.3% — CIE 对标题正确的嵌合体完全盲目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误报率:  IntegriRef 0%  vs  CheckIfExist 11.1% — CIE 因标题格式差异误判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  速度:  IntegriRef 38.5s  vs  CheckIfExist 2.3s — 我们慢但做了 5 层验证，CIE 只查存在性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怎么用？三行代码就能跑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3291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基本用法：查一条引用是否存在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onsolas"/>
              </a:defRPr>
            </a:pPr>
            <a:r>
              <a:t>from core.discovery import RegistryDiscovery</a:t>
            </a:r>
            <a:br/>
            <a:br/>
            <a:r>
              <a:t>discovery = RegistryDiscovery()</a:t>
            </a:r>
            <a:br/>
            <a:r>
              <a:t>discovery.auto_register()   # 自动注册 62 个数据库适配器</a:t>
            </a:r>
            <a:br/>
            <a:br/>
            <a:r>
              <a:t>result = discovery.verify_reference(</a:t>
            </a:r>
            <a:br/>
            <a:r>
              <a:t>    title="Attention Is All You Need",</a:t>
            </a:r>
            <a:br/>
            <a:r>
              <a:t>    identifier="10.48550/arXiv.1706.03762",</a:t>
            </a:r>
            <a:br/>
            <a:r>
              <a:t>)</a:t>
            </a:r>
            <a:br/>
            <a:r>
              <a:t>print(result["found"])            # True</a:t>
            </a:r>
            <a:br/>
            <a:r>
              <a:t>print(result["registries_hit"])   # ["crossref", "openalex", ...]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3291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语义验证：声明和原文对得上吗？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onsolas"/>
              </a:defRPr>
            </a:pPr>
            <a:r>
              <a:t>from semantic.nli_verifier import NLIVerifier</a:t>
            </a:r>
            <a:br/>
            <a:br/>
            <a:r>
              <a:t>verifier = NLIVerifier()  # 加载 DeBERTa-v3</a:t>
            </a:r>
            <a:br/>
            <a:r>
              <a:t>result = verifier.verify(</a:t>
            </a:r>
            <a:br/>
            <a:r>
              <a:t>    claim="Transformer 超越了 RNN",</a:t>
            </a:r>
            <a:br/>
            <a:r>
              <a:t>    abstract="...achieves 28.4 BLEU, "</a:t>
            </a:r>
            <a:br/>
            <a:r>
              <a:t>             "surpassing RNN-based models."</a:t>
            </a:r>
            <a:br/>
            <a:r>
              <a:t>)</a:t>
            </a:r>
            <a:br/>
            <a:r>
              <a:t># result.label → SUPPORTED</a:t>
            </a:r>
            <a:br/>
            <a:r>
              <a:t># result.confidence → 0.91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完整管线：一键跑 L0 → 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onsolas"/>
              </a:defRPr>
            </a:pPr>
            <a:r>
              <a:t>from core.pipeline import IntegriRefPipeline</a:t>
            </a:r>
            <a:br/>
            <a:br/>
            <a:r>
              <a:t>pipeline = IntegriRefPipeline()</a:t>
            </a:r>
            <a:br/>
            <a:r>
              <a:t>report = pipeline.verify(references)      # 输入一组参考文献</a:t>
            </a:r>
            <a:br/>
            <a:r>
              <a:t># report 包含：每条引用的风险等级 (LOW/ELEVATED/HIGH/CRITICAL)、</a:t>
            </a:r>
            <a:br/>
            <a:r>
              <a:t>#              具体触发了哪些信号、以及贝叶斯后验概率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接下来要做什么？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正在做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39"/>
            <a:ext cx="106984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系统论文撰写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投 JASIST/Scientometrics，L0-L4 全栈 + 消融实验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58568"/>
            <a:ext cx="106984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数据集扩展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04287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用爬虫收集更多撤稿论文、统计错误、幻觉引用样本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25496"/>
            <a:ext cx="106984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7121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接入剩余检测器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71215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4 个检测器 (扭曲短语/邮箱/GRIM/Sneaked) 还没接进管线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95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Microsoft YaHei"/>
              </a:defRPr>
            </a:pPr>
            <a:r>
              <a:t>计划中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41063"/>
            <a:ext cx="106984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8678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LLM 幻觉引文检测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86783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专门检测 GPT-4/Claude/Gemini 生成的假引用 (投 ACL)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07992"/>
            <a:ext cx="106984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537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5371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FastAPI 封装，让其他工具和编辑器可以直接调用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74920"/>
            <a:ext cx="106984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跨数据集泛化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1206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在 HealthVer、FEVER、ClimateVER 上测试 L2 的泛化能力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790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BBBB"/>
                </a:solidFill>
                <a:latin typeface="Microsoft YaHei"/>
              </a:defRPr>
            </a:pPr>
            <a:r>
              <a:t>远期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190488"/>
            <a:ext cx="106984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236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浏览器插件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23620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在 Google Scholar / arXiv 页面直接显示风险评分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757416"/>
            <a:ext cx="106984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803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多语言优化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680313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针对中文、日文等非英语论文的验证精度提升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7324344"/>
            <a:ext cx="10698480" cy="502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73700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实时监控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737006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Microsoft YaHei"/>
              </a:defRPr>
            </a:pPr>
            <a:r>
              <a:t>监控新发表论文的引用质量，自动预警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  <a:latin typeface="Microsoft YaHei"/>
              </a:defRPr>
            </a:pPr>
            <a:r>
              <a:t>Thanks!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一句话总结：帮你自动检查参考文献靠不靠谱的开源工具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spcBef>
                <a:spcPts val="1200"/>
              </a:spcBef>
              <a:defRPr sz="1600" b="0">
                <a:solidFill>
                  <a:srgbClr val="BBBBBB"/>
                </a:solidFill>
                <a:latin typeface="Microsoft YaHei"/>
              </a:defRPr>
            </a:pPr>
            <a:r>
              <a:t>GitHub: GeoffreyWang1117/IntegriRef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BBBBBB"/>
                </a:solidFill>
                <a:latin typeface="Microsoft YaHei"/>
              </a:defRPr>
            </a:pPr>
            <a:r>
              <a:t>开源协议: MIT License</a:t>
            </a:r>
          </a:p>
          <a:p>
            <a:pPr algn="l">
              <a:spcBef>
                <a:spcPts val="2000"/>
              </a:spcBef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spcBef>
                <a:spcPts val="800"/>
              </a:spcBef>
              <a:defRPr sz="1800" b="0">
                <a:solidFill>
                  <a:srgbClr val="00D2FF"/>
                </a:solidFill>
                <a:latin typeface="Microsoft YaHei"/>
              </a:defRPr>
            </a:pPr>
            <a:r>
              <a:t>欢迎 Star / Fork / Issue / 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